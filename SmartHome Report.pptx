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A8CC">
              <a:alpha val="15000"/>
            </a:srgbClr>
          </a:solidFill>
          <a:ln w="12700">
            <a:solidFill>
              <a:srgbClr val="00A8C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A8CC"/>
                </a:solidFill>
              </a:rPr>
              <a:t>專題報告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語音控制智慧家庭系統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</a:rPr>
              <a:t>基於 Xiaozhi AI + MCP 協議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5029200" cy="27432"/>
          </a:xfrm>
          <a:prstGeom prst="rect">
            <a:avLst/>
          </a:prstGeom>
          <a:solidFill>
            <a:srgbClr val="8FAAB8"/>
          </a:solidFill>
          <a:ln w="12700">
            <a:solidFill>
              <a:srgbClr val="8FAA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</a:rPr>
              <a:t>系統版本：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ESP32_FULL_MCP_XIAOZHI v4.0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</a:rPr>
              <a:t>開發語言：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Arduino C++ (ESP32 Framework)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A8CC"/>
                </a:solidFill>
              </a:rPr>
              <a:t>授權協議：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MIT License（Xiaozhi 開源平台）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智慧家庭　×　語音AI　×　IoT 物聯網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目　　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前　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研究動機、目的與範圍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987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理論基礎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3898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MCP 協議、ESP32、Xiaozhi AI 平台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4884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221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系統架構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2624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整體系統方塊圖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221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流程圖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624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指令執行流程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8328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實作成果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3858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功能展示與測試結果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02336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結　論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3858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</a:rPr>
              <a:t>成果總結與未來展望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　前　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研究動機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傳統家庭控制方式需要手動操作開關，操作繁瑣且效率低下。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隨著 AI 語音識別技術成熟，語音控制成為更自然的人機介面。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Xiaozhi 開源平台結合 MCP 協議提供了低成本、高擴充性的解決方案。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研究目的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</a:rPr>
              <a:t>打造完整的語音控制智慧家庭原型系統，驗證 MCP 雲端協議與 ESP32 物聯網整合的可行性。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02336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9601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研究範圍與特色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8 個 MCP 工具涵蓋全屋設備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DHT11 即時溫濕度監控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OLED 顯示器即時回饋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語音自訂警報溫度閾值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NVS 記憶體儲存設定（斷電不消失）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雙核 ESP32 安全設計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WiFi 逾時自動重啟保護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</a:rPr>
              <a:t>靜態記憶體管理無堆積碎片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　理論基礎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023360"/>
          </a:xfrm>
          <a:prstGeom prst="rect">
            <a:avLst/>
          </a:prstGeom>
          <a:solidFill>
            <a:srgbClr val="1B2A3B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4114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 微控制器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514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Xtensa LX6 雙核心處理器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內建 Wi-Fi 2.4GHz + Bluetooth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豐富 GPIO 資源（40 支腳位）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Arduino Framework 支援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FreeRTOS 多工作業系統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NVS 非揮發性記憶體儲存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822960"/>
            <a:ext cx="2697480" cy="4023360"/>
          </a:xfrm>
          <a:prstGeom prst="rect">
            <a:avLst/>
          </a:prstGeom>
          <a:solidFill>
            <a:srgbClr val="1B2A3B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22960"/>
            <a:ext cx="26974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 協議（模型上下文協議）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298448"/>
            <a:ext cx="2514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Model Context Protocol — AI工具呼叫標準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透過 WebSocket (WSS) 傳輸指令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JSON-RPC 格式定義工具輸入/輸出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ESP32 端實作 MCP Client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Xiaozhi Cloud 作為 MCP Server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雙向非同步通訊架構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822960"/>
            <a:ext cx="2697480" cy="4023360"/>
          </a:xfrm>
          <a:prstGeom prst="rect">
            <a:avLst/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822960"/>
            <a:ext cx="269748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822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Xiaozhi AI 平台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298448"/>
            <a:ext cx="2514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開源韌體：github.com/78/xiaozhi-esp32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MIT 授權，個人免費使用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支援 ASR 語音識別（中文優化）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LLM 推理：Qwen / DeepSeek 模型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TTS 語音合成回應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8F4F8"/>
                </a:solidFill>
              </a:rPr>
              <a:t>• 雲端 MCP Server 轉發指令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　系統架構方塊圖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594360"/>
          </a:xfrm>
          <a:prstGeom prst="rect">
            <a:avLst/>
          </a:prstGeom>
          <a:solidFill>
            <a:srgbClr val="4A4A6A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使用者說話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371600"/>
            <a:ext cx="91440" cy="2743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645920"/>
            <a:ext cx="4572000" cy="777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645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Xiaozhi ESP32-S3  ──  語音 AI 裝置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ESP32-S3 + TFT 2.8" + 麥克風 + 喇叭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8"/>
                </a:solidFill>
              </a:rPr>
              <a:t>WSS WebSocket (OPUS 音訊)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423160"/>
            <a:ext cx="91440" cy="3200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solidFill>
            <a:srgbClr val="0D3B5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2743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☁  Xiaozhi Cloud Server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74520" y="3127248"/>
            <a:ext cx="10972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語音辨識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3127248"/>
            <a:ext cx="10972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意圖分析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3127248"/>
            <a:ext cx="10972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語音合成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3127248"/>
            <a:ext cx="1097280" cy="438912"/>
          </a:xfrm>
          <a:prstGeom prst="rect">
            <a:avLst/>
          </a:prstGeom>
          <a:solidFill>
            <a:srgbClr val="1B4F7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1272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Server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703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AB8"/>
                </a:solidFill>
              </a:rPr>
              <a:t>WSS MCP WebSocket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3675888"/>
            <a:ext cx="91440" cy="2926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ESP32 WROOM-32  ──  智慧家庭控制器（v4.0）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DHT11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溫濕度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OLED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SSD1306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警示燈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Relay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風扇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83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Relay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客廳燈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Relay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臥房燈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4361688"/>
            <a:ext cx="1051560" cy="438912"/>
          </a:xfrm>
          <a:prstGeom prst="rect">
            <a:avLst/>
          </a:prstGeom>
          <a:solidFill>
            <a:srgbClr val="2D1B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3616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Relay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4A261"/>
                </a:solidFill>
              </a:rPr>
              <a:t>廚房燈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　硬體接線配置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41148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GPIO 腳位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功能說明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DHT11（DATA）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GPIO 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讀取溫度與濕度數值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OLED SSD1306（SDA）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I2C 資料線，顯示系統資訊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OLED SSD1306（SCL）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GPIO 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I2C 時脈線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LED 警示燈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超溫時非阻塞閃爍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Relay 風扇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GPIO 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高電位觸發（避開 GPIO2 開機衝突）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Relay 客廳燈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高電位觸發，光耦繼電器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Relay 臥房燈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GPIO 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</a:rPr>
                        <a:t>高電位觸發，光耦繼電器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Relay 廚房燈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GPIO 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高電位觸發，光耦繼電器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　MCP 工具清單（8 個已註冊）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16052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097280"/>
                <a:gridCol w="192024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工具名稱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功能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輸入參數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回傳格式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temperature_and_humidity_values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讀取 DHT11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（無）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"temperature", "humidity"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set_temperature_warning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設定警報溫度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max_temperature (20–60°C)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"new_limit"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fan_control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控制風扇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"state":"on"/"off"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"state"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living_room_lights_control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客廳燈控制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"state":"on"/"off"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"state"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bedroom_lights_control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臥房燈控制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"state":"on"/"off"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"state"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kitchen_lights_control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廚房燈控制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"state":"on"/"off"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"state"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all_devices_control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所有設備同控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"state":"on"/"off"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"success", "state"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get_device_status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查詢設備狀態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（無）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{ "fan", "living_room", "bedroom", "kitchen" 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　系統執行流程圖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914400"/>
          </a:xfrm>
          <a:prstGeom prst="rect">
            <a:avLst/>
          </a:prstGeom>
          <a:solidFill>
            <a:srgbClr val="4A4A6A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使用者說出指令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（例：「開啟風扇」）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68680"/>
            <a:ext cx="192024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14600" y="868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Xiaozhi ESP32-S3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收音並上傳 OPUS 音訊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1920240" cy="914400"/>
          </a:xfrm>
          <a:prstGeom prst="rect">
            <a:avLst/>
          </a:prstGeom>
          <a:solidFill>
            <a:srgbClr val="0D3B5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868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雲端 ASR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語音轉文字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868680"/>
            <a:ext cx="1920240" cy="914400"/>
          </a:xfrm>
          <a:prstGeom prst="rect">
            <a:avLst/>
          </a:prstGeom>
          <a:solidFill>
            <a:srgbClr val="0D3B5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868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LLM 分析意圖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呼叫 fan_control("on")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377440"/>
            <a:ext cx="1920240" cy="914400"/>
          </a:xfrm>
          <a:prstGeom prst="rect">
            <a:avLst/>
          </a:prstGeom>
          <a:solidFill>
            <a:srgbClr val="1B3A4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MCP Server 轉發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JSON-RPC 至 ESP32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ESP32 解析指令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GPIO 25 拉高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377440"/>
            <a:ext cx="1920240" cy="914400"/>
          </a:xfrm>
          <a:prstGeom prst="rect">
            <a:avLst/>
          </a:prstGeom>
          <a:solidFill>
            <a:srgbClr val="2D1B0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繼電器閉合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風扇啟動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192024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回傳 success:true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Xiaozhi 語音回覆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12848" y="1298448"/>
            <a:ext cx="256032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7408" y="1298448"/>
            <a:ext cx="256032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1298448"/>
            <a:ext cx="256032" cy="7315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90688" y="1783080"/>
            <a:ext cx="73152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807208"/>
            <a:ext cx="25603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2807208"/>
            <a:ext cx="25603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807208"/>
            <a:ext cx="256032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612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CC"/>
                </a:solidFill>
              </a:rPr>
              <a:t>STEP 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612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CC"/>
                </a:solidFill>
              </a:rPr>
              <a:t>STEP 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612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CC"/>
                </a:solidFill>
              </a:rPr>
              <a:t>STEP 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0" y="612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CC"/>
                </a:solidFill>
              </a:rPr>
              <a:t>STEP 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STEP 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STEP 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46888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STEP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STEP 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343400"/>
            <a:ext cx="182880" cy="1828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B8"/>
                </a:solidFill>
              </a:rPr>
              <a:t>語音 → 雲端 AI 處理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0" y="4343400"/>
            <a:ext cx="18288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AB8"/>
                </a:solidFill>
              </a:rPr>
              <a:t>MCP 指令 → 硬體執行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　實作成果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6596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MCP 工具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AB8"/>
                </a:solidFill>
              </a:rPr>
              <a:t>完整覆蓋全屋設備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96596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繼電器輸出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AB8"/>
                </a:solidFill>
              </a:rPr>
              <a:t>獨立控制各房間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804672"/>
            <a:ext cx="196596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v4.0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穩定版本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AB8"/>
                </a:solidFill>
              </a:rPr>
              <a:t>4 輪完整程式審查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804672"/>
            <a:ext cx="196596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</a:rPr>
              <a:t>&lt;2s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12618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指令延遲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AB8"/>
                </a:solidFill>
              </a:rPr>
              <a:t>語音到執行回應時間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993392"/>
            <a:ext cx="4023360" cy="2834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084832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已驗證功能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4688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語音說「開啟風扇」→ 繼電器即時動作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語音說「設定警報 35 度」→ NVS 儲存保留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溫度超過閾值 → LED 非阻塞式閃爍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語音查詢「哪些燈亮著？」→ 精確回報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語音說「全部關閉」→ 4 路繼電器同動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OLED 顯示 IP、溫濕度、閾值、狀態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WiFi 斷線 15 秒後自動重啟恢復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1993392"/>
            <a:ext cx="4023360" cy="2834640"/>
          </a:xfrm>
          <a:prstGeom prst="rect">
            <a:avLst/>
          </a:prstGeom>
          <a:solidFill>
            <a:srgbClr val="1B2A3B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084832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程式設計重點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4688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StaticJsonDocument 取代 Dynamic（無堆積碎片）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volatile 變數確保雙核心存取安全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DHT11 讀取週期 2 秒（避免過頻讀取錯誤）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cachedTemp 快取，減少感測器頻繁呼叫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移除 portMUX（避免 Watchdog 逾時重啟）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warningTemp 宣告為 volatile float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8F4F8"/>
                </a:solidFill>
              </a:rPr>
              <a:t>輸入驗證：20–60°C 範圍檢查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　版本演進歷程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1874520"/>
          </a:xfrm>
          <a:prstGeom prst="rect">
            <a:avLst/>
          </a:prstGeom>
          <a:solidFill>
            <a:srgbClr val="4A4A6A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0" cy="18745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640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v1.0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850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初始整合版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21615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合併 DHT11+OLED 程式與繼電器控制程式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建立 7 個基礎 MCP 工具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023360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0" cy="18745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04672"/>
            <a:ext cx="640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v2.0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850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第一輪審查修正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22392" y="121615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🔴 GPIO 2 → GPIO 25（解決開機衝突）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🔴 修正 Tool 1 Schema（移除錯誤 required 欄位）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🟠 新增 JSON 輸入驗證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➕ 新增 WiFi 逾時、OLED 開機畫面、NVS、工具 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4023360" cy="1874520"/>
          </a:xfrm>
          <a:prstGeom prst="rect">
            <a:avLst/>
          </a:prstGeom>
          <a:solidFill>
            <a:srgbClr val="0D3B5E"/>
          </a:solidFill>
          <a:ln w="12700">
            <a:solidFill>
              <a:srgbClr val="00A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16352"/>
            <a:ext cx="640080" cy="18745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16352"/>
            <a:ext cx="640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v3.0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第二輪審查修正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3227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🔴 移除 portMUX/portENTER_CRITICAL（避免 Watchdog 重啟）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🟠 所有跨核心 state 變數改為 volatile bool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🟡 新增 cachedTemp，移除每 10ms 重複讀取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16352"/>
            <a:ext cx="4023360" cy="1874520"/>
          </a:xfrm>
          <a:prstGeom prst="rect">
            <a:avLst/>
          </a:prstGeom>
          <a:solidFill>
            <a:srgbClr val="0A2A1A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16352"/>
            <a:ext cx="640080" cy="1874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16352"/>
            <a:ext cx="640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v4.0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最終穩定版（現行）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392" y="322783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🔴 warningTemp 補充宣告為 volatile float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🟠 set_temperature_warning 加入 20–60°C 驗證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　結　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1B2A3B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1440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成果總結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C9A7"/>
                </a:solidFill>
              </a:rPr>
              <a:t>本專題成功實現以下目標：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完整語音控制智慧家庭原型系統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8 個 MCP 工具覆蓋全屋設備控制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即時溫濕度監控與智慧警報機制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NVS 持久化儲存，斷電設定不遺失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雙核心安全設計，程式穩定可靠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✅  驗證 MCP 協議與 ESP32 IoT 整合可行性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4023360"/>
          </a:xfrm>
          <a:prstGeom prst="rect">
            <a:avLst/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1440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未來展望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4A261"/>
                </a:solidFill>
              </a:rPr>
              <a:t>後續可擴充方向：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整合更多感測器（PIR、煙霧、門磁）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支援多房間分區語音控制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加入行動裝置 App 遠端監控介面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導入 OTA 空中韌體更新機制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支援多用戶語音識別與授權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</a:rPr>
              <a:t>🔧  整合電力監控模組（瓦特計）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CC">
              <a:alpha val="10000"/>
            </a:srgbClr>
          </a:solidFill>
          <a:ln w="12700">
            <a:solidFill>
              <a:srgbClr val="00A8C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感謝聆聽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AB8"/>
                </a:solidFill>
              </a:rPr>
              <a:t>敬請各位師長不吝指正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2743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CC"/>
                </a:solidFill>
              </a:rPr>
              <a:t>專案：</a:t>
            </a:r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語音控制智慧家庭系統（Xiaozhi AI + MCP）
</a:t>
            </a:r>
            <a:pPr algn="ctr" indent="0" marL="0">
              <a:buNone/>
            </a:pPr>
            <a:r>
              <a:rPr lang="en-US" sz="1200" b="1" dirty="0">
                <a:solidFill>
                  <a:srgbClr val="00A8CC"/>
                </a:solidFill>
              </a:rPr>
              <a:t>版本：</a:t>
            </a:r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ESP32_FULL_MCP_XIAOZHI v4.0
</a:t>
            </a:r>
            <a:pPr algn="ctr" indent="0" marL="0">
              <a:buNone/>
            </a:pPr>
            <a:r>
              <a:rPr lang="en-US" sz="1200" b="1" dirty="0">
                <a:solidFill>
                  <a:srgbClr val="00A8CC"/>
                </a:solidFill>
              </a:rPr>
              <a:t>開源：</a:t>
            </a:r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github.com/78/xiaozhi-esp32（MIT License）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ESP32  ×  Xiaozhi AI  ×  MCP Protocol  ×  IoT 智慧家庭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語音控制智慧家庭系統報告</dc:title>
  <dc:subject>PptxGenJS Presentation</dc:subject>
  <dc:creator>PptxGenJS</dc:creator>
  <cp:lastModifiedBy>PptxGenJS</cp:lastModifiedBy>
  <cp:revision>1</cp:revision>
  <dcterms:created xsi:type="dcterms:W3CDTF">2026-04-09T03:05:59Z</dcterms:created>
  <dcterms:modified xsi:type="dcterms:W3CDTF">2026-04-09T03:05:59Z</dcterms:modified>
</cp:coreProperties>
</file>